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[0:00 - 1:00 | Slide 1 Script (101 words @ 100 wpm)]</a:t>
            </a:r>
          </a:p>
          <a:p/>
          <a:p>
            <a:r>
              <a:t>To identify the causal effect of ASX 300 inclusion, we match each of our 77 retained additions with two non-member controls from the same review—giving 154 control slots across 231 stock-review units.</a:t>
            </a:r>
          </a:p>
          <a:p/>
          <a:p>
            <a:r>
              <a:t>[pause]</a:t>
            </a:r>
          </a:p>
          <a:p/>
          <a:p>
            <a:r>
              <a:t>All matching rules use only information available at or before the reference date, and Amihud levels never enter selection. Controls must share the addition exact GICS sector, fall within 0.5 to 2 times its reference market cap, have no same-review index changes, and never be reused within a review.</a:t>
            </a:r>
          </a:p>
          <a:p/>
          <a:p>
            <a:r>
              <a:t>[pause]</a:t>
            </a:r>
          </a:p>
          <a:p/>
          <a:p>
            <a:r>
              <a:t>Crucially, we require baseline median daily traded value above 100,000 Australian dollars. This removes thinly traded secondary listings where tiny volume creates extreme Amihud spikes, yielding strong baseline overlap on the log scale.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[1:00 - 2:00 | Slide 2 Script (99 words @ 100 wpm)]</a:t>
            </a:r>
          </a:p>
          <a:p/>
          <a:p>
            <a:r>
              <a:t>Turning to identification, our first key assumption is no anticipation in the baseline.</a:t>
            </a:r>
          </a:p>
          <a:p/>
          <a:p>
            <a:r>
              <a:t>Because S&amp;P eligibility rules are public and the reference cut-off falls around trading day minus 11, arbitrageurs can predict likely additions before the official Friday announcement on day zero.</a:t>
            </a:r>
          </a:p>
          <a:p/>
          <a:p>
            <a:r>
              <a:t>[pause]</a:t>
            </a:r>
          </a:p>
          <a:p/>
          <a:p>
            <a:r>
              <a:t>In our earlier specification, baseline ran from day minus 30 to minus 11. However, if traders position around the reference cut-off, days minus 20 to minus 11 may already reflect anticipation.</a:t>
            </a:r>
          </a:p>
          <a:p/>
          <a:p>
            <a:r>
              <a:t>[pause]</a:t>
            </a:r>
          </a:p>
          <a:p/>
          <a:p>
            <a:r>
              <a:t>We therefore define Baseline B earlier—from day minus 40 to minus 21—and allow anticipation across days minus 20 to zero in window PA, while measuring pre-event volatility in EP from minus 60 to minus 41.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[2:00 - 3:00 | Slide 3 Script (100 words @ 100 wpm)]</a:t>
            </a:r>
          </a:p>
          <a:p/>
          <a:p>
            <a:r>
              <a:t>Our second assumption is conditional parallel trends: absent inclusion, additions and matched controls would follow similar log Amihud changes, conditional on group-by-window fixed effects, log market cap, and pre-event return volatility.</a:t>
            </a:r>
          </a:p>
          <a:p/>
          <a:p>
            <a:r>
              <a:t>[pause]</a:t>
            </a:r>
          </a:p>
          <a:p/>
          <a:p>
            <a:r>
              <a:t>We assess plausibility using four 10-day bins from day minus 60 to minus 21, with minus 40 to minus 31 as reference, deliberately excluding the anticipation window.</a:t>
            </a:r>
          </a:p>
          <a:p/>
          <a:p>
            <a:r>
              <a:t>[pause]</a:t>
            </a:r>
          </a:p>
          <a:p/>
          <a:p>
            <a:r>
              <a:t>Pre-trend differences are small and jointly insignificant: the event-weighted p-value is 0.743, and the joint test across all 18 review-specific coefficients is 0.146.</a:t>
            </a:r>
          </a:p>
          <a:p/>
          <a:p>
            <a:r>
              <a:t>[pause]</a:t>
            </a:r>
          </a:p>
          <a:p/>
          <a:p>
            <a:r>
              <a:t>Following Roth, non-rejection supports plausibility rather than proving parallel trends—and importantly, our post-inclusion liquidity findings remain robust under both baseline definitions.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777240"/>
          </a:xfrm>
          <a:prstGeom prst="rect">
            <a:avLst/>
          </a:prstGeom>
          <a:noFill/>
        </p:spPr>
        <p:txBody>
          <a:bodyPr wrap="square" lIns="0" tIns="0" rIns="0" bIns="0">
            <a:spAutoFit/>
          </a:bodyPr>
          <a:lstStyle/>
          <a:p>
            <a:pPr>
              <a:defRPr sz="2400" b="1">
                <a:solidFill>
                  <a:srgbClr val="173F4F"/>
                </a:solidFill>
                <a:latin typeface="Arial"/>
              </a:defRPr>
            </a:pPr>
            <a:r>
              <a:t>1. Control Selection &amp; Baseline Comparability</a:t>
            </a:r>
          </a:p>
          <a:p>
            <a:pPr>
              <a:defRPr sz="1250">
                <a:solidFill>
                  <a:srgbClr val="5A6978"/>
                </a:solidFill>
                <a:latin typeface="Arial"/>
              </a:defRPr>
            </a:pPr>
            <a:r>
              <a:t>Ex-ante 1:2 sector-and-size matching across six semi-annual reviews (77 additions : 154 control slots)</a:t>
            </a:r>
          </a:p>
        </p:txBody>
      </p:sp>
      <p:sp>
        <p:nvSpPr>
          <p:cNvPr id="4" name="TextBox 3"/>
          <p:cNvSpPr txBox="1"/>
          <p:nvPr/>
        </p:nvSpPr>
        <p:spPr>
          <a:xfrm>
            <a:off x="502920" y="6510528"/>
            <a:ext cx="11155680" cy="256032"/>
          </a:xfrm>
          <a:prstGeom prst="rect">
            <a:avLst/>
          </a:prstGeom>
          <a:noFill/>
        </p:spPr>
        <p:txBody>
          <a:bodyPr wrap="none">
            <a:spAutoFit/>
          </a:bodyPr>
          <a:lstStyle/>
          <a:p>
            <a:pPr>
              <a:defRPr sz="950">
                <a:solidFill>
                  <a:srgbClr val="5A6978"/>
                </a:solidFill>
                <a:latin typeface="Arial"/>
              </a:defRPr>
            </a:pPr>
            <a:r>
              <a:t>ETF5560 Case Studies in Econometrics | S&amp;P/ASX 300 Inclusion &amp; Liquidity | Slide 1 of 3</a:t>
            </a:r>
          </a:p>
        </p:txBody>
      </p:sp>
      <p:sp>
        <p:nvSpPr>
          <p:cNvPr id="5" name="Rounded Rectangle 4"/>
          <p:cNvSpPr/>
          <p:nvPr/>
        </p:nvSpPr>
        <p:spPr>
          <a:xfrm>
            <a:off x="502920" y="1051560"/>
            <a:ext cx="5623560" cy="5257800"/>
          </a:xfrm>
          <a:prstGeom prst="roundRect">
            <a:avLst>
              <a:gd name="adj" fmla="val 2000"/>
            </a:avLst>
          </a:prstGeom>
          <a:solidFill>
            <a:srgbClr val="F5F7F9"/>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170432"/>
            <a:ext cx="5257800" cy="5029200"/>
          </a:xfrm>
          <a:prstGeom prst="rect">
            <a:avLst/>
          </a:prstGeom>
          <a:noFill/>
        </p:spPr>
        <p:txBody>
          <a:bodyPr wrap="square">
            <a:spAutoFit/>
          </a:bodyPr>
          <a:lstStyle/>
          <a:p>
            <a:pPr>
              <a:spcAft>
                <a:spcPts val="600"/>
              </a:spcAft>
              <a:defRPr sz="1500" b="1">
                <a:solidFill>
                  <a:srgbClr val="173F4F"/>
                </a:solidFill>
                <a:latin typeface="Arial"/>
              </a:defRPr>
            </a:pPr>
            <a:r>
              <a:t>The 5 Ex-Ante Control Selection Rules</a:t>
            </a:r>
          </a:p>
          <a:p>
            <a:pPr>
              <a:spcAft>
                <a:spcPts val="700"/>
              </a:spcAft>
            </a:pPr>
            <a:r>
              <a:rPr b="1" sz="1150">
                <a:solidFill>
                  <a:srgbClr val="173F4F"/>
                </a:solidFill>
                <a:latin typeface="Arial"/>
              </a:rPr>
              <a:t>Ex-Ante Principle: </a:t>
            </a:r>
            <a:r>
              <a:rPr sz="1120">
                <a:solidFill>
                  <a:srgbClr val="1E293B"/>
                </a:solidFill>
                <a:latin typeface="Arial"/>
              </a:rPr>
              <a:t>All rules use only information available at or before the reference date; Amihud levels never enter selection.</a:t>
            </a:r>
          </a:p>
          <a:p>
            <a:pPr>
              <a:spcAft>
                <a:spcPts val="700"/>
              </a:spcAft>
            </a:pPr>
            <a:r>
              <a:rPr b="1" sz="1150">
                <a:solidFill>
                  <a:srgbClr val="173F4F"/>
                </a:solidFill>
                <a:latin typeface="Arial"/>
              </a:rPr>
              <a:t>1. Index &amp; Event Exclusion: </a:t>
            </a:r>
            <a:r>
              <a:rPr sz="1120">
                <a:solidFill>
                  <a:srgbClr val="1E293B"/>
                </a:solidFill>
                <a:latin typeface="Arial"/>
              </a:rPr>
              <a:t>Must be an ASX Common Stock in AUD with no same-review S&amp;P/ASX index additions or deletions (and not one of the 84 additions).</a:t>
            </a:r>
          </a:p>
          <a:p>
            <a:pPr>
              <a:spcAft>
                <a:spcPts val="700"/>
              </a:spcAft>
            </a:pPr>
            <a:r>
              <a:rPr b="1" sz="1150">
                <a:solidFill>
                  <a:srgbClr val="173F4F"/>
                </a:solidFill>
                <a:latin typeface="Arial"/>
              </a:rPr>
              <a:t>2. Exact GICS Sector Match: </a:t>
            </a:r>
            <a:r>
              <a:rPr sz="1120">
                <a:solidFill>
                  <a:srgbClr val="1E293B"/>
                </a:solidFill>
                <a:latin typeface="Arial"/>
              </a:rPr>
              <a:t>Control must share the addition GICS sector at the reference date (154 / 154 slots match).</a:t>
            </a:r>
          </a:p>
          <a:p>
            <a:pPr>
              <a:spcAft>
                <a:spcPts val="700"/>
              </a:spcAft>
            </a:pPr>
            <a:r>
              <a:rPr b="1" sz="1150">
                <a:solidFill>
                  <a:srgbClr val="173F4F"/>
                </a:solidFill>
                <a:latin typeface="Arial"/>
              </a:rPr>
              <a:t>3. Reference Market-Cap Band [0.5x, 2.0x]: </a:t>
            </a:r>
            <a:r>
              <a:rPr sz="1120">
                <a:solidFill>
                  <a:srgbClr val="1E293B"/>
                </a:solidFill>
                <a:latin typeface="Arial"/>
              </a:rPr>
              <a:t>Select the two closest size matches by |ln(Cap_ctrl / Cap_add)| within [0.5, 2.0] (153 / 154 slots meet Tier 1; 1 Tier-2 exception MAQ-NEC at 2.12x).</a:t>
            </a:r>
          </a:p>
          <a:p>
            <a:pPr>
              <a:spcAft>
                <a:spcPts val="700"/>
              </a:spcAft>
            </a:pPr>
            <a:r>
              <a:rPr b="1" sz="1150">
                <a:solidFill>
                  <a:srgbClr val="173F4F"/>
                </a:solidFill>
                <a:latin typeface="Arial"/>
              </a:rPr>
              <a:t>4. Zero Control Reuse: </a:t>
            </a:r>
            <a:r>
              <a:rPr sz="1120">
                <a:solidFill>
                  <a:srgbClr val="1E293B"/>
                </a:solidFill>
                <a:latin typeface="Arial"/>
              </a:rPr>
              <a:t>Each control stock is used at most once within any review (90%+ price coverage across the 121-day window).</a:t>
            </a:r>
          </a:p>
          <a:p>
            <a:pPr>
              <a:spcAft>
                <a:spcPts val="700"/>
              </a:spcAft>
            </a:pPr>
            <a:r>
              <a:rPr b="1" sz="1150">
                <a:solidFill>
                  <a:srgbClr val="173F4F"/>
                </a:solidFill>
                <a:latin typeface="Arial"/>
              </a:rPr>
              <a:t>5. Baseline Traded-Value Floor (&gt;= A,000): </a:t>
            </a:r>
            <a:r>
              <a:rPr sz="1120">
                <a:solidFill>
                  <a:srgbClr val="1E293B"/>
                </a:solidFill>
                <a:latin typeface="Arial"/>
              </a:rPr>
              <a:t>Baseline median daily traded value (Close x Volume) must exceed A,000 (with A fallback). Removes thinly traded secondary listings where tiny volume creates extreme Amihud spikes.</a:t>
            </a:r>
          </a:p>
        </p:txBody>
      </p:sp>
      <p:graphicFrame>
        <p:nvGraphicFramePr>
          <p:cNvPr id="7" name="Table 6"/>
          <p:cNvGraphicFramePr>
            <a:graphicFrameLocks noGrp="1"/>
          </p:cNvGraphicFramePr>
          <p:nvPr/>
        </p:nvGraphicFramePr>
        <p:xfrm>
          <a:off x="6355080" y="1051560"/>
          <a:ext cx="5303520" cy="2331720"/>
        </p:xfrm>
        <a:graphic>
          <a:graphicData uri="http://schemas.openxmlformats.org/drawingml/2006/table">
            <a:tbl>
              <a:tblPr firstRow="1" bandRow="1">
                <a:tableStyleId>{5C22544A-7EE6-4342-B048-85BDC9FD1C3A}</a:tableStyleId>
              </a:tblPr>
              <a:tblGrid>
                <a:gridCol w="3337560"/>
                <a:gridCol w="1965960"/>
              </a:tblGrid>
              <a:tr h="388620">
                <a:tc>
                  <a:txBody>
                    <a:bodyPr/>
                    <a:lstStyle/>
                    <a:p>
                      <a:pPr algn="l">
                        <a:defRPr sz="1100" b="1">
                          <a:solidFill>
                            <a:srgbClr val="FFFFFF"/>
                          </a:solidFill>
                          <a:latin typeface="Arial"/>
                        </a:defRPr>
                      </a:pPr>
                      <a:r>
                        <a:t>Matching Criterion</a:t>
                      </a:r>
                    </a:p>
                  </a:txBody>
                  <a:tcPr anchor="ctr">
                    <a:solidFill>
                      <a:srgbClr val="173F4F"/>
                    </a:solidFill>
                  </a:tcPr>
                </a:tc>
                <a:tc>
                  <a:txBody>
                    <a:bodyPr/>
                    <a:lstStyle/>
                    <a:p>
                      <a:pPr algn="ctr">
                        <a:defRPr sz="1100" b="1">
                          <a:solidFill>
                            <a:srgbClr val="FFFFFF"/>
                          </a:solidFill>
                          <a:latin typeface="Arial"/>
                        </a:defRPr>
                      </a:pPr>
                      <a:r>
                        <a:t>Achieved in Sample</a:t>
                      </a:r>
                    </a:p>
                  </a:txBody>
                  <a:tcPr anchor="ctr">
                    <a:solidFill>
                      <a:srgbClr val="173F4F"/>
                    </a:solidFill>
                  </a:tcPr>
                </a:tc>
              </a:tr>
              <a:tr h="388620">
                <a:tc>
                  <a:txBody>
                    <a:bodyPr/>
                    <a:lstStyle/>
                    <a:p>
                      <a:pPr algn="l">
                        <a:defRPr sz="1050" b="0">
                          <a:solidFill>
                            <a:srgbClr val="1E293B"/>
                          </a:solidFill>
                          <a:latin typeface="Arial"/>
                        </a:defRPr>
                      </a:pPr>
                      <a:r>
                        <a:t>Retained Additions : Matched Controls</a:t>
                      </a:r>
                    </a:p>
                  </a:txBody>
                  <a:tcPr anchor="ctr">
                    <a:solidFill>
                      <a:srgbClr val="EBF3F5"/>
                    </a:solidFill>
                  </a:tcPr>
                </a:tc>
                <a:tc>
                  <a:txBody>
                    <a:bodyPr/>
                    <a:lstStyle/>
                    <a:p>
                      <a:pPr algn="ctr">
                        <a:defRPr sz="1050" b="1">
                          <a:solidFill>
                            <a:srgbClr val="173F4F"/>
                          </a:solidFill>
                          <a:latin typeface="Arial"/>
                        </a:defRPr>
                      </a:pPr>
                      <a:r>
                        <a:t>77 : 154 (231 units)</a:t>
                      </a:r>
                    </a:p>
                  </a:txBody>
                  <a:tcPr anchor="ctr">
                    <a:solidFill>
                      <a:srgbClr val="EBF3F5"/>
                    </a:solidFill>
                  </a:tcPr>
                </a:tc>
              </a:tr>
              <a:tr h="388620">
                <a:tc>
                  <a:txBody>
                    <a:bodyPr/>
                    <a:lstStyle/>
                    <a:p>
                      <a:pPr algn="l">
                        <a:defRPr sz="1050" b="0">
                          <a:solidFill>
                            <a:srgbClr val="1E293B"/>
                          </a:solidFill>
                          <a:latin typeface="Arial"/>
                        </a:defRPr>
                      </a:pPr>
                      <a:r>
                        <a:t>Exact GICS Sector Match</a:t>
                      </a:r>
                    </a:p>
                  </a:txBody>
                  <a:tcPr anchor="ctr">
                    <a:solidFill>
                      <a:srgbClr val="FFFFFF"/>
                    </a:solidFill>
                  </a:tcPr>
                </a:tc>
                <a:tc>
                  <a:txBody>
                    <a:bodyPr/>
                    <a:lstStyle/>
                    <a:p>
                      <a:pPr algn="ctr">
                        <a:defRPr sz="1050" b="1">
                          <a:solidFill>
                            <a:srgbClr val="173F4F"/>
                          </a:solidFill>
                          <a:latin typeface="Arial"/>
                        </a:defRPr>
                      </a:pPr>
                      <a:r>
                        <a:t>154 / 154 (100.0%)</a:t>
                      </a:r>
                    </a:p>
                  </a:txBody>
                  <a:tcPr anchor="ctr">
                    <a:solidFill>
                      <a:srgbClr val="FFFFFF"/>
                    </a:solidFill>
                  </a:tcPr>
                </a:tc>
              </a:tr>
              <a:tr h="388620">
                <a:tc>
                  <a:txBody>
                    <a:bodyPr/>
                    <a:lstStyle/>
                    <a:p>
                      <a:pPr algn="l">
                        <a:defRPr sz="1050" b="0">
                          <a:solidFill>
                            <a:srgbClr val="1E293B"/>
                          </a:solidFill>
                          <a:latin typeface="Arial"/>
                        </a:defRPr>
                      </a:pPr>
                      <a:r>
                        <a:t>Reference Cap Ratio in [0.5x, 2.0x]</a:t>
                      </a:r>
                    </a:p>
                  </a:txBody>
                  <a:tcPr anchor="ctr">
                    <a:solidFill>
                      <a:srgbClr val="EBF3F5"/>
                    </a:solidFill>
                  </a:tcPr>
                </a:tc>
                <a:tc>
                  <a:txBody>
                    <a:bodyPr/>
                    <a:lstStyle/>
                    <a:p>
                      <a:pPr algn="ctr">
                        <a:defRPr sz="1050" b="1">
                          <a:solidFill>
                            <a:srgbClr val="173F4F"/>
                          </a:solidFill>
                          <a:latin typeface="Arial"/>
                        </a:defRPr>
                      </a:pPr>
                      <a:r>
                        <a:t>153 / 154 (99.4%)</a:t>
                      </a:r>
                    </a:p>
                  </a:txBody>
                  <a:tcPr anchor="ctr">
                    <a:solidFill>
                      <a:srgbClr val="EBF3F5"/>
                    </a:solidFill>
                  </a:tcPr>
                </a:tc>
              </a:tr>
              <a:tr h="388620">
                <a:tc>
                  <a:txBody>
                    <a:bodyPr/>
                    <a:lstStyle/>
                    <a:p>
                      <a:pPr algn="l">
                        <a:defRPr sz="1050" b="0">
                          <a:solidFill>
                            <a:srgbClr val="1E293B"/>
                          </a:solidFill>
                          <a:latin typeface="Arial"/>
                        </a:defRPr>
                      </a:pPr>
                      <a:r>
                        <a:t>Control Reuse Within Any Review</a:t>
                      </a:r>
                    </a:p>
                  </a:txBody>
                  <a:tcPr anchor="ctr">
                    <a:solidFill>
                      <a:srgbClr val="FFFFFF"/>
                    </a:solidFill>
                  </a:tcPr>
                </a:tc>
                <a:tc>
                  <a:txBody>
                    <a:bodyPr/>
                    <a:lstStyle/>
                    <a:p>
                      <a:pPr algn="ctr">
                        <a:defRPr sz="1050" b="1">
                          <a:solidFill>
                            <a:srgbClr val="173F4F"/>
                          </a:solidFill>
                          <a:latin typeface="Arial"/>
                        </a:defRPr>
                      </a:pPr>
                      <a:r>
                        <a:t>0 / 154 (0.0%)</a:t>
                      </a:r>
                    </a:p>
                  </a:txBody>
                  <a:tcPr anchor="ctr">
                    <a:solidFill>
                      <a:srgbClr val="FFFFFF"/>
                    </a:solidFill>
                  </a:tcPr>
                </a:tc>
              </a:tr>
              <a:tr h="388620">
                <a:tc>
                  <a:txBody>
                    <a:bodyPr/>
                    <a:lstStyle/>
                    <a:p>
                      <a:pPr algn="l">
                        <a:defRPr sz="1050" b="0">
                          <a:solidFill>
                            <a:srgbClr val="1E293B"/>
                          </a:solidFill>
                          <a:latin typeface="Arial"/>
                        </a:defRPr>
                      </a:pPr>
                      <a:r>
                        <a:t>Baseline Med. Traded Value &gt;= A</a:t>
                      </a:r>
                    </a:p>
                  </a:txBody>
                  <a:tcPr anchor="ctr">
                    <a:solidFill>
                      <a:srgbClr val="EBF3F5"/>
                    </a:solidFill>
                  </a:tcPr>
                </a:tc>
                <a:tc>
                  <a:txBody>
                    <a:bodyPr/>
                    <a:lstStyle/>
                    <a:p>
                      <a:pPr algn="ctr">
                        <a:defRPr sz="1050" b="1">
                          <a:solidFill>
                            <a:srgbClr val="173F4F"/>
                          </a:solidFill>
                          <a:latin typeface="Arial"/>
                        </a:defRPr>
                      </a:pPr>
                      <a:r>
                        <a:t>154 / 154 (100.0%)</a:t>
                      </a:r>
                    </a:p>
                  </a:txBody>
                  <a:tcPr anchor="ctr">
                    <a:solidFill>
                      <a:srgbClr val="EBF3F5"/>
                    </a:solidFill>
                  </a:tcPr>
                </a:tc>
              </a:tr>
            </a:tbl>
          </a:graphicData>
        </a:graphic>
      </p:graphicFrame>
      <p:pic>
        <p:nvPicPr>
          <p:cNvPr id="8" name="Picture 7" descr="slide1_log_overlap.png"/>
          <p:cNvPicPr>
            <a:picLocks noChangeAspect="1"/>
          </p:cNvPicPr>
          <p:nvPr/>
        </p:nvPicPr>
        <p:blipFill>
          <a:blip r:embed="rId2"/>
          <a:stretch>
            <a:fillRect/>
          </a:stretch>
        </p:blipFill>
        <p:spPr>
          <a:xfrm>
            <a:off x="6355080" y="3520440"/>
            <a:ext cx="5303520" cy="255705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777240"/>
          </a:xfrm>
          <a:prstGeom prst="rect">
            <a:avLst/>
          </a:prstGeom>
          <a:noFill/>
        </p:spPr>
        <p:txBody>
          <a:bodyPr wrap="square" lIns="0" tIns="0" rIns="0" bIns="0">
            <a:spAutoFit/>
          </a:bodyPr>
          <a:lstStyle/>
          <a:p>
            <a:pPr>
              <a:defRPr sz="2400" b="1">
                <a:solidFill>
                  <a:srgbClr val="173F4F"/>
                </a:solidFill>
                <a:latin typeface="Arial"/>
              </a:defRPr>
            </a:pPr>
            <a:r>
              <a:t>2. Identification Assumption 1: No Anticipation in the Baseline</a:t>
            </a:r>
          </a:p>
          <a:p>
            <a:pPr>
              <a:defRPr sz="1250">
                <a:solidFill>
                  <a:srgbClr val="5A6978"/>
                </a:solidFill>
                <a:latin typeface="Arial"/>
              </a:defRPr>
            </a:pPr>
            <a:r>
              <a:t>Separating the clean reference baseline B (-40 to -21) from pre-announcement positioning PA (-20 to 0)</a:t>
            </a:r>
          </a:p>
        </p:txBody>
      </p:sp>
      <p:sp>
        <p:nvSpPr>
          <p:cNvPr id="4" name="TextBox 3"/>
          <p:cNvSpPr txBox="1"/>
          <p:nvPr/>
        </p:nvSpPr>
        <p:spPr>
          <a:xfrm>
            <a:off x="502920" y="6510528"/>
            <a:ext cx="11155680" cy="256032"/>
          </a:xfrm>
          <a:prstGeom prst="rect">
            <a:avLst/>
          </a:prstGeom>
          <a:noFill/>
        </p:spPr>
        <p:txBody>
          <a:bodyPr wrap="none">
            <a:spAutoFit/>
          </a:bodyPr>
          <a:lstStyle/>
          <a:p>
            <a:pPr>
              <a:defRPr sz="950">
                <a:solidFill>
                  <a:srgbClr val="5A6978"/>
                </a:solidFill>
                <a:latin typeface="Arial"/>
              </a:defRPr>
            </a:pPr>
            <a:r>
              <a:t>ETF5560 Case Studies in Econometrics | S&amp;P/ASX 300 Inclusion &amp; Liquidity | Slide 2 of 3</a:t>
            </a:r>
          </a:p>
        </p:txBody>
      </p:sp>
      <p:sp>
        <p:nvSpPr>
          <p:cNvPr id="5" name="Rectangle 4"/>
          <p:cNvSpPr/>
          <p:nvPr/>
        </p:nvSpPr>
        <p:spPr>
          <a:xfrm>
            <a:off x="502920" y="1078992"/>
            <a:ext cx="1691640" cy="713232"/>
          </a:xfrm>
          <a:prstGeom prst="rect">
            <a:avLst/>
          </a:prstGeom>
          <a:solidFill>
            <a:srgbClr val="A8C6D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Arial"/>
              </a:defRPr>
            </a:pPr>
            <a:r>
              <a:t>EP (-60 to -41)</a:t>
            </a:r>
          </a:p>
          <a:p>
            <a:pPr algn="ctr">
              <a:defRPr sz="900">
                <a:solidFill>
                  <a:srgbClr val="1E293B"/>
                </a:solidFill>
                <a:latin typeface="Arial"/>
              </a:defRPr>
            </a:pPr>
            <a:r>
              <a:t>20d: Volatility &amp; Pre-test</a:t>
            </a:r>
          </a:p>
        </p:txBody>
      </p:sp>
      <p:sp>
        <p:nvSpPr>
          <p:cNvPr id="6" name="Rectangle 5"/>
          <p:cNvSpPr/>
          <p:nvPr/>
        </p:nvSpPr>
        <p:spPr>
          <a:xfrm>
            <a:off x="2194560" y="1078992"/>
            <a:ext cx="1874519" cy="713232"/>
          </a:xfrm>
          <a:prstGeom prst="rect">
            <a:avLst/>
          </a:prstGeom>
          <a:solidFill>
            <a:srgbClr val="173F4F"/>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B (-40 to -21)</a:t>
            </a:r>
          </a:p>
          <a:p>
            <a:pPr algn="ctr">
              <a:defRPr sz="900">
                <a:solidFill>
                  <a:srgbClr val="FFFFFF"/>
                </a:solidFill>
                <a:latin typeface="Arial"/>
              </a:defRPr>
            </a:pPr>
            <a:r>
              <a:t>20d: Clean Baseline Ref</a:t>
            </a:r>
          </a:p>
        </p:txBody>
      </p:sp>
      <p:sp>
        <p:nvSpPr>
          <p:cNvPr id="7" name="Rectangle 6"/>
          <p:cNvSpPr/>
          <p:nvPr/>
        </p:nvSpPr>
        <p:spPr>
          <a:xfrm>
            <a:off x="4069079" y="1078992"/>
            <a:ext cx="1965960" cy="713232"/>
          </a:xfrm>
          <a:prstGeom prst="rect">
            <a:avLst/>
          </a:prstGeom>
          <a:solidFill>
            <a:srgbClr val="ECDEBD"/>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Arial"/>
              </a:defRPr>
            </a:pPr>
            <a:r>
              <a:t>PA (-20 to 0)</a:t>
            </a:r>
          </a:p>
          <a:p>
            <a:pPr algn="ctr">
              <a:defRPr sz="900">
                <a:solidFill>
                  <a:srgbClr val="1E293B"/>
                </a:solidFill>
                <a:latin typeface="Arial"/>
              </a:defRPr>
            </a:pPr>
            <a:r>
              <a:t>21d: Anticipation Allowed</a:t>
            </a:r>
          </a:p>
        </p:txBody>
      </p:sp>
      <p:sp>
        <p:nvSpPr>
          <p:cNvPr id="8" name="Rectangle 7"/>
          <p:cNvSpPr/>
          <p:nvPr/>
        </p:nvSpPr>
        <p:spPr>
          <a:xfrm>
            <a:off x="6035039" y="1078992"/>
            <a:ext cx="1325880" cy="713232"/>
          </a:xfrm>
          <a:prstGeom prst="rect">
            <a:avLst/>
          </a:prstGeom>
          <a:solidFill>
            <a:srgbClr val="1A5E7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AP (+1:+10)</a:t>
            </a:r>
          </a:p>
          <a:p>
            <a:pPr algn="ctr">
              <a:defRPr sz="900">
                <a:solidFill>
                  <a:srgbClr val="FFFFFF"/>
                </a:solidFill>
                <a:latin typeface="Arial"/>
              </a:defRPr>
            </a:pPr>
            <a:r>
              <a:t>10d: Rebalance</a:t>
            </a:r>
          </a:p>
        </p:txBody>
      </p:sp>
      <p:sp>
        <p:nvSpPr>
          <p:cNvPr id="9" name="Rectangle 8"/>
          <p:cNvSpPr/>
          <p:nvPr/>
        </p:nvSpPr>
        <p:spPr>
          <a:xfrm>
            <a:off x="7360919" y="1078992"/>
            <a:ext cx="1874519" cy="713232"/>
          </a:xfrm>
          <a:prstGeom prst="rect">
            <a:avLst/>
          </a:prstGeom>
          <a:solidFill>
            <a:srgbClr val="4D94A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SP (+11 to +30)</a:t>
            </a:r>
          </a:p>
          <a:p>
            <a:pPr algn="ctr">
              <a:defRPr sz="900">
                <a:solidFill>
                  <a:srgbClr val="FFFFFF"/>
                </a:solidFill>
                <a:latin typeface="Arial"/>
              </a:defRPr>
            </a:pPr>
            <a:r>
              <a:t>20d: Short Post</a:t>
            </a:r>
          </a:p>
        </p:txBody>
      </p:sp>
      <p:sp>
        <p:nvSpPr>
          <p:cNvPr id="10" name="Rectangle 9"/>
          <p:cNvSpPr/>
          <p:nvPr/>
        </p:nvSpPr>
        <p:spPr>
          <a:xfrm>
            <a:off x="9235438" y="1078992"/>
            <a:ext cx="2423160" cy="713232"/>
          </a:xfrm>
          <a:prstGeom prst="rect">
            <a:avLst/>
          </a:prstGeom>
          <a:solidFill>
            <a:srgbClr val="8AB8C3"/>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293B"/>
                </a:solidFill>
                <a:latin typeface="Arial"/>
              </a:defRPr>
            </a:pPr>
            <a:r>
              <a:t>LP (+31 to +60)</a:t>
            </a:r>
          </a:p>
          <a:p>
            <a:pPr algn="ctr">
              <a:defRPr sz="900">
                <a:solidFill>
                  <a:srgbClr val="1E293B"/>
                </a:solidFill>
                <a:latin typeface="Arial"/>
              </a:defRPr>
            </a:pPr>
            <a:r>
              <a:t>30d: Later Post-Effective</a:t>
            </a:r>
          </a:p>
        </p:txBody>
      </p:sp>
      <p:graphicFrame>
        <p:nvGraphicFramePr>
          <p:cNvPr id="11" name="Table 10"/>
          <p:cNvGraphicFramePr>
            <a:graphicFrameLocks noGrp="1"/>
          </p:cNvGraphicFramePr>
          <p:nvPr/>
        </p:nvGraphicFramePr>
        <p:xfrm>
          <a:off x="502920" y="1938528"/>
          <a:ext cx="11155680" cy="2240280"/>
        </p:xfrm>
        <a:graphic>
          <a:graphicData uri="http://schemas.openxmlformats.org/drawingml/2006/table">
            <a:tbl>
              <a:tblPr firstRow="1" bandRow="1">
                <a:tableStyleId>{5C22544A-7EE6-4342-B048-85BDC9FD1C3A}</a:tableStyleId>
              </a:tblPr>
              <a:tblGrid>
                <a:gridCol w="1280160"/>
                <a:gridCol w="1645920"/>
                <a:gridCol w="1005840"/>
                <a:gridCol w="7223760"/>
              </a:tblGrid>
              <a:tr h="320040">
                <a:tc>
                  <a:txBody>
                    <a:bodyPr/>
                    <a:lstStyle/>
                    <a:p>
                      <a:pPr algn="l">
                        <a:defRPr sz="1050" b="1">
                          <a:solidFill>
                            <a:srgbClr val="FFFFFF"/>
                          </a:solidFill>
                          <a:latin typeface="Arial"/>
                        </a:defRPr>
                      </a:pPr>
                      <a:r>
                        <a:t>Stage</a:t>
                      </a:r>
                    </a:p>
                  </a:txBody>
                  <a:tcPr anchor="ctr">
                    <a:solidFill>
                      <a:srgbClr val="173F4F"/>
                    </a:solidFill>
                  </a:tcPr>
                </a:tc>
                <a:tc>
                  <a:txBody>
                    <a:bodyPr/>
                    <a:lstStyle/>
                    <a:p>
                      <a:pPr algn="ctr">
                        <a:defRPr sz="1050" b="1">
                          <a:solidFill>
                            <a:srgbClr val="FFFFFF"/>
                          </a:solidFill>
                          <a:latin typeface="Arial"/>
                        </a:defRPr>
                      </a:pPr>
                      <a:r>
                        <a:t>Trading Days</a:t>
                      </a:r>
                    </a:p>
                  </a:txBody>
                  <a:tcPr anchor="ctr">
                    <a:solidFill>
                      <a:srgbClr val="173F4F"/>
                    </a:solidFill>
                  </a:tcPr>
                </a:tc>
                <a:tc>
                  <a:txBody>
                    <a:bodyPr/>
                    <a:lstStyle/>
                    <a:p>
                      <a:pPr algn="ctr">
                        <a:defRPr sz="1050" b="1">
                          <a:solidFill>
                            <a:srgbClr val="FFFFFF"/>
                          </a:solidFill>
                          <a:latin typeface="Arial"/>
                        </a:defRPr>
                      </a:pPr>
                      <a:r>
                        <a:t>Days</a:t>
                      </a:r>
                    </a:p>
                  </a:txBody>
                  <a:tcPr anchor="ctr">
                    <a:solidFill>
                      <a:srgbClr val="173F4F"/>
                    </a:solidFill>
                  </a:tcPr>
                </a:tc>
                <a:tc>
                  <a:txBody>
                    <a:bodyPr/>
                    <a:lstStyle/>
                    <a:p>
                      <a:pPr algn="l">
                        <a:defRPr sz="1050" b="1">
                          <a:solidFill>
                            <a:srgbClr val="FFFFFF"/>
                          </a:solidFill>
                          <a:latin typeface="Arial"/>
                        </a:defRPr>
                      </a:pPr>
                      <a:r>
                        <a:t>Role in Identification Strategy</a:t>
                      </a:r>
                    </a:p>
                  </a:txBody>
                  <a:tcPr anchor="ctr">
                    <a:solidFill>
                      <a:srgbClr val="173F4F"/>
                    </a:solidFill>
                  </a:tcPr>
                </a:tc>
              </a:tr>
              <a:tr h="320040">
                <a:tc>
                  <a:txBody>
                    <a:bodyPr/>
                    <a:lstStyle/>
                    <a:p>
                      <a:pPr algn="l">
                        <a:defRPr sz="1000" b="0">
                          <a:solidFill>
                            <a:srgbClr val="1E293B"/>
                          </a:solidFill>
                          <a:latin typeface="Arial"/>
                        </a:defRPr>
                      </a:pPr>
                      <a:r>
                        <a:t>EP</a:t>
                      </a:r>
                    </a:p>
                  </a:txBody>
                  <a:tcPr anchor="ctr">
                    <a:solidFill>
                      <a:srgbClr val="F5F7F9"/>
                    </a:solidFill>
                  </a:tcPr>
                </a:tc>
                <a:tc>
                  <a:txBody>
                    <a:bodyPr/>
                    <a:lstStyle/>
                    <a:p>
                      <a:pPr algn="ctr">
                        <a:defRPr sz="1000" b="0">
                          <a:solidFill>
                            <a:srgbClr val="1E293B"/>
                          </a:solidFill>
                          <a:latin typeface="Arial"/>
                        </a:defRPr>
                      </a:pPr>
                      <a:r>
                        <a:t>-60 to -41</a:t>
                      </a:r>
                    </a:p>
                  </a:txBody>
                  <a:tcPr anchor="ctr">
                    <a:solidFill>
                      <a:srgbClr val="F5F7F9"/>
                    </a:solidFill>
                  </a:tcPr>
                </a:tc>
                <a:tc>
                  <a:txBody>
                    <a:bodyPr/>
                    <a:lstStyle/>
                    <a:p>
                      <a:pPr algn="ctr">
                        <a:defRPr sz="1000" b="0">
                          <a:solidFill>
                            <a:srgbClr val="1E293B"/>
                          </a:solidFill>
                          <a:latin typeface="Arial"/>
                        </a:defRPr>
                      </a:pPr>
                      <a:r>
                        <a:t>20</a:t>
                      </a:r>
                    </a:p>
                  </a:txBody>
                  <a:tcPr anchor="ctr">
                    <a:solidFill>
                      <a:srgbClr val="F5F7F9"/>
                    </a:solidFill>
                  </a:tcPr>
                </a:tc>
                <a:tc>
                  <a:txBody>
                    <a:bodyPr/>
                    <a:lstStyle/>
                    <a:p>
                      <a:pPr algn="l">
                        <a:defRPr sz="1000" b="0">
                          <a:solidFill>
                            <a:srgbClr val="1E293B"/>
                          </a:solidFill>
                          <a:latin typeface="Arial"/>
                        </a:defRPr>
                      </a:pPr>
                      <a:r>
                        <a:t>Earlier pre-period: pre-event return volatility control (SD x 100) and pre-trend check</a:t>
                      </a:r>
                    </a:p>
                  </a:txBody>
                  <a:tcPr anchor="ctr">
                    <a:solidFill>
                      <a:srgbClr val="F5F7F9"/>
                    </a:solidFill>
                  </a:tcPr>
                </a:tc>
              </a:tr>
              <a:tr h="320040">
                <a:tc>
                  <a:txBody>
                    <a:bodyPr/>
                    <a:lstStyle/>
                    <a:p>
                      <a:pPr algn="l">
                        <a:defRPr sz="1000" b="1">
                          <a:solidFill>
                            <a:srgbClr val="1E293B"/>
                          </a:solidFill>
                          <a:latin typeface="Arial"/>
                        </a:defRPr>
                      </a:pPr>
                      <a:r>
                        <a:t>B (Baseline)</a:t>
                      </a:r>
                    </a:p>
                  </a:txBody>
                  <a:tcPr anchor="ctr">
                    <a:solidFill>
                      <a:srgbClr val="EBF3F5"/>
                    </a:solidFill>
                  </a:tcPr>
                </a:tc>
                <a:tc>
                  <a:txBody>
                    <a:bodyPr/>
                    <a:lstStyle/>
                    <a:p>
                      <a:pPr algn="ctr">
                        <a:defRPr sz="1000" b="1">
                          <a:solidFill>
                            <a:srgbClr val="1E293B"/>
                          </a:solidFill>
                          <a:latin typeface="Arial"/>
                        </a:defRPr>
                      </a:pPr>
                      <a:r>
                        <a:t>-40 to -21</a:t>
                      </a:r>
                    </a:p>
                  </a:txBody>
                  <a:tcPr anchor="ctr">
                    <a:solidFill>
                      <a:srgbClr val="EBF3F5"/>
                    </a:solidFill>
                  </a:tcPr>
                </a:tc>
                <a:tc>
                  <a:txBody>
                    <a:bodyPr/>
                    <a:lstStyle/>
                    <a:p>
                      <a:pPr algn="ctr">
                        <a:defRPr sz="1000" b="1">
                          <a:solidFill>
                            <a:srgbClr val="1E293B"/>
                          </a:solidFill>
                          <a:latin typeface="Arial"/>
                        </a:defRPr>
                      </a:pPr>
                      <a:r>
                        <a:t>20</a:t>
                      </a:r>
                    </a:p>
                  </a:txBody>
                  <a:tcPr anchor="ctr">
                    <a:solidFill>
                      <a:srgbClr val="EBF3F5"/>
                    </a:solidFill>
                  </a:tcPr>
                </a:tc>
                <a:tc>
                  <a:txBody>
                    <a:bodyPr/>
                    <a:lstStyle/>
                    <a:p>
                      <a:pPr algn="l">
                        <a:defRPr sz="1000" b="1">
                          <a:solidFill>
                            <a:srgbClr val="1E293B"/>
                          </a:solidFill>
                          <a:latin typeface="Arial"/>
                        </a:defRPr>
                      </a:pPr>
                      <a:r>
                        <a:t>Clean reference period: assumed free of expected-inclusion anticipation (omitted benchmark)</a:t>
                      </a:r>
                    </a:p>
                  </a:txBody>
                  <a:tcPr anchor="ctr">
                    <a:solidFill>
                      <a:srgbClr val="EBF3F5"/>
                    </a:solidFill>
                  </a:tcPr>
                </a:tc>
              </a:tr>
              <a:tr h="320040">
                <a:tc>
                  <a:txBody>
                    <a:bodyPr/>
                    <a:lstStyle/>
                    <a:p>
                      <a:pPr algn="l">
                        <a:defRPr sz="1000" b="1">
                          <a:solidFill>
                            <a:srgbClr val="1E293B"/>
                          </a:solidFill>
                          <a:latin typeface="Arial"/>
                        </a:defRPr>
                      </a:pPr>
                      <a:r>
                        <a:t>PA</a:t>
                      </a:r>
                    </a:p>
                  </a:txBody>
                  <a:tcPr anchor="ctr">
                    <a:solidFill>
                      <a:srgbClr val="ECDEBD"/>
                    </a:solidFill>
                  </a:tcPr>
                </a:tc>
                <a:tc>
                  <a:txBody>
                    <a:bodyPr/>
                    <a:lstStyle/>
                    <a:p>
                      <a:pPr algn="ctr">
                        <a:defRPr sz="1000" b="1">
                          <a:solidFill>
                            <a:srgbClr val="1E293B"/>
                          </a:solidFill>
                          <a:latin typeface="Arial"/>
                        </a:defRPr>
                      </a:pPr>
                      <a:r>
                        <a:t>-20 to 0</a:t>
                      </a:r>
                    </a:p>
                  </a:txBody>
                  <a:tcPr anchor="ctr">
                    <a:solidFill>
                      <a:srgbClr val="ECDEBD"/>
                    </a:solidFill>
                  </a:tcPr>
                </a:tc>
                <a:tc>
                  <a:txBody>
                    <a:bodyPr/>
                    <a:lstStyle/>
                    <a:p>
                      <a:pPr algn="ctr">
                        <a:defRPr sz="1000" b="1">
                          <a:solidFill>
                            <a:srgbClr val="1E293B"/>
                          </a:solidFill>
                          <a:latin typeface="Arial"/>
                        </a:defRPr>
                      </a:pPr>
                      <a:r>
                        <a:t>21</a:t>
                      </a:r>
                    </a:p>
                  </a:txBody>
                  <a:tcPr anchor="ctr">
                    <a:solidFill>
                      <a:srgbClr val="ECDEBD"/>
                    </a:solidFill>
                  </a:tcPr>
                </a:tc>
                <a:tc>
                  <a:txBody>
                    <a:bodyPr/>
                    <a:lstStyle/>
                    <a:p>
                      <a:pPr algn="l">
                        <a:defRPr sz="1000" b="1">
                          <a:solidFill>
                            <a:srgbClr val="1E293B"/>
                          </a:solidFill>
                          <a:latin typeface="Arial"/>
                        </a:defRPr>
                      </a:pPr>
                      <a:r>
                        <a:t>Pre-announcement window: spans S&amp;P reference cut-off (~day -11) to Friday announcement (day 0); anticipation allowed</a:t>
                      </a:r>
                    </a:p>
                  </a:txBody>
                  <a:tcPr anchor="ctr">
                    <a:solidFill>
                      <a:srgbClr val="ECDEBD"/>
                    </a:solidFill>
                  </a:tcPr>
                </a:tc>
              </a:tr>
              <a:tr h="320040">
                <a:tc>
                  <a:txBody>
                    <a:bodyPr/>
                    <a:lstStyle/>
                    <a:p>
                      <a:pPr algn="l">
                        <a:defRPr sz="1000" b="0">
                          <a:solidFill>
                            <a:srgbClr val="1E293B"/>
                          </a:solidFill>
                          <a:latin typeface="Arial"/>
                        </a:defRPr>
                      </a:pPr>
                      <a:r>
                        <a:t>AP</a:t>
                      </a:r>
                    </a:p>
                  </a:txBody>
                  <a:tcPr anchor="ctr">
                    <a:solidFill>
                      <a:srgbClr val="FFFFFF"/>
                    </a:solidFill>
                  </a:tcPr>
                </a:tc>
                <a:tc>
                  <a:txBody>
                    <a:bodyPr/>
                    <a:lstStyle/>
                    <a:p>
                      <a:pPr algn="ctr">
                        <a:defRPr sz="1000" b="0">
                          <a:solidFill>
                            <a:srgbClr val="1E293B"/>
                          </a:solidFill>
                          <a:latin typeface="Arial"/>
                        </a:defRPr>
                      </a:pPr>
                      <a:r>
                        <a:t>+1 to +10</a:t>
                      </a:r>
                    </a:p>
                  </a:txBody>
                  <a:tcPr anchor="ctr">
                    <a:solidFill>
                      <a:srgbClr val="FFFFFF"/>
                    </a:solidFill>
                  </a:tcPr>
                </a:tc>
                <a:tc>
                  <a:txBody>
                    <a:bodyPr/>
                    <a:lstStyle/>
                    <a:p>
                      <a:pPr algn="ctr">
                        <a:defRPr sz="1000" b="0">
                          <a:solidFill>
                            <a:srgbClr val="1E293B"/>
                          </a:solidFill>
                          <a:latin typeface="Arial"/>
                        </a:defRPr>
                      </a:pPr>
                      <a:r>
                        <a:t>10</a:t>
                      </a:r>
                    </a:p>
                  </a:txBody>
                  <a:tcPr anchor="ctr">
                    <a:solidFill>
                      <a:srgbClr val="FFFFFF"/>
                    </a:solidFill>
                  </a:tcPr>
                </a:tc>
                <a:tc>
                  <a:txBody>
                    <a:bodyPr/>
                    <a:lstStyle/>
                    <a:p>
                      <a:pPr algn="l">
                        <a:defRPr sz="1000" b="0">
                          <a:solidFill>
                            <a:srgbClr val="1E293B"/>
                          </a:solidFill>
                          <a:latin typeface="Arial"/>
                        </a:defRPr>
                      </a:pPr>
                      <a:r>
                        <a:t>First tradable post-announcement session (+1) through implementation rebalance close (+10)</a:t>
                      </a:r>
                    </a:p>
                  </a:txBody>
                  <a:tcPr anchor="ctr">
                    <a:solidFill>
                      <a:srgbClr val="FFFFFF"/>
                    </a:solidFill>
                  </a:tcPr>
                </a:tc>
              </a:tr>
              <a:tr h="320040">
                <a:tc>
                  <a:txBody>
                    <a:bodyPr/>
                    <a:lstStyle/>
                    <a:p>
                      <a:pPr algn="l">
                        <a:defRPr sz="1000" b="0">
                          <a:solidFill>
                            <a:srgbClr val="1E293B"/>
                          </a:solidFill>
                          <a:latin typeface="Arial"/>
                        </a:defRPr>
                      </a:pPr>
                      <a:r>
                        <a:t>SP</a:t>
                      </a:r>
                    </a:p>
                  </a:txBody>
                  <a:tcPr anchor="ctr">
                    <a:solidFill>
                      <a:srgbClr val="F5F7F9"/>
                    </a:solidFill>
                  </a:tcPr>
                </a:tc>
                <a:tc>
                  <a:txBody>
                    <a:bodyPr/>
                    <a:lstStyle/>
                    <a:p>
                      <a:pPr algn="ctr">
                        <a:defRPr sz="1000" b="0">
                          <a:solidFill>
                            <a:srgbClr val="1E293B"/>
                          </a:solidFill>
                          <a:latin typeface="Arial"/>
                        </a:defRPr>
                      </a:pPr>
                      <a:r>
                        <a:t>+11 to +30</a:t>
                      </a:r>
                    </a:p>
                  </a:txBody>
                  <a:tcPr anchor="ctr">
                    <a:solidFill>
                      <a:srgbClr val="F5F7F9"/>
                    </a:solidFill>
                  </a:tcPr>
                </a:tc>
                <a:tc>
                  <a:txBody>
                    <a:bodyPr/>
                    <a:lstStyle/>
                    <a:p>
                      <a:pPr algn="ctr">
                        <a:defRPr sz="1000" b="0">
                          <a:solidFill>
                            <a:srgbClr val="1E293B"/>
                          </a:solidFill>
                          <a:latin typeface="Arial"/>
                        </a:defRPr>
                      </a:pPr>
                      <a:r>
                        <a:t>20</a:t>
                      </a:r>
                    </a:p>
                  </a:txBody>
                  <a:tcPr anchor="ctr">
                    <a:solidFill>
                      <a:srgbClr val="F5F7F9"/>
                    </a:solidFill>
                  </a:tcPr>
                </a:tc>
                <a:tc>
                  <a:txBody>
                    <a:bodyPr/>
                    <a:lstStyle/>
                    <a:p>
                      <a:pPr algn="l">
                        <a:defRPr sz="1000" b="0">
                          <a:solidFill>
                            <a:srgbClr val="1E293B"/>
                          </a:solidFill>
                          <a:latin typeface="Arial"/>
                        </a:defRPr>
                      </a:pPr>
                      <a:r>
                        <a:t>Short post-effective period: first 20 trading sessions under new ASX 300 membership</a:t>
                      </a:r>
                    </a:p>
                  </a:txBody>
                  <a:tcPr anchor="ctr">
                    <a:solidFill>
                      <a:srgbClr val="F5F7F9"/>
                    </a:solidFill>
                  </a:tcPr>
                </a:tc>
              </a:tr>
              <a:tr h="320040">
                <a:tc>
                  <a:txBody>
                    <a:bodyPr/>
                    <a:lstStyle/>
                    <a:p>
                      <a:pPr algn="l">
                        <a:defRPr sz="1000" b="0">
                          <a:solidFill>
                            <a:srgbClr val="1E293B"/>
                          </a:solidFill>
                          <a:latin typeface="Arial"/>
                        </a:defRPr>
                      </a:pPr>
                      <a:r>
                        <a:t>LP</a:t>
                      </a:r>
                    </a:p>
                  </a:txBody>
                  <a:tcPr anchor="ctr">
                    <a:solidFill>
                      <a:srgbClr val="FFFFFF"/>
                    </a:solidFill>
                  </a:tcPr>
                </a:tc>
                <a:tc>
                  <a:txBody>
                    <a:bodyPr/>
                    <a:lstStyle/>
                    <a:p>
                      <a:pPr algn="ctr">
                        <a:defRPr sz="1000" b="0">
                          <a:solidFill>
                            <a:srgbClr val="1E293B"/>
                          </a:solidFill>
                          <a:latin typeface="Arial"/>
                        </a:defRPr>
                      </a:pPr>
                      <a:r>
                        <a:t>+31 to +60</a:t>
                      </a:r>
                    </a:p>
                  </a:txBody>
                  <a:tcPr anchor="ctr">
                    <a:solidFill>
                      <a:srgbClr val="FFFFFF"/>
                    </a:solidFill>
                  </a:tcPr>
                </a:tc>
                <a:tc>
                  <a:txBody>
                    <a:bodyPr/>
                    <a:lstStyle/>
                    <a:p>
                      <a:pPr algn="ctr">
                        <a:defRPr sz="1000" b="0">
                          <a:solidFill>
                            <a:srgbClr val="1E293B"/>
                          </a:solidFill>
                          <a:latin typeface="Arial"/>
                        </a:defRPr>
                      </a:pPr>
                      <a:r>
                        <a:t>30</a:t>
                      </a:r>
                    </a:p>
                  </a:txBody>
                  <a:tcPr anchor="ctr">
                    <a:solidFill>
                      <a:srgbClr val="FFFFFF"/>
                    </a:solidFill>
                  </a:tcPr>
                </a:tc>
                <a:tc>
                  <a:txBody>
                    <a:bodyPr/>
                    <a:lstStyle/>
                    <a:p>
                      <a:pPr algn="l">
                        <a:defRPr sz="1000" b="0">
                          <a:solidFill>
                            <a:srgbClr val="1E293B"/>
                          </a:solidFill>
                          <a:latin typeface="Arial"/>
                        </a:defRPr>
                      </a:pPr>
                      <a:r>
                        <a:t>Later post-effective period: tests whether liquidity gains persist after rebalancing trades settle</a:t>
                      </a:r>
                    </a:p>
                  </a:txBody>
                  <a:tcPr anchor="ctr">
                    <a:solidFill>
                      <a:srgbClr val="FFFFFF"/>
                    </a:solidFill>
                  </a:tcPr>
                </a:tc>
              </a:tr>
            </a:tbl>
          </a:graphicData>
        </a:graphic>
      </p:graphicFrame>
      <p:sp>
        <p:nvSpPr>
          <p:cNvPr id="12" name="Rounded Rectangle 11"/>
          <p:cNvSpPr/>
          <p:nvPr/>
        </p:nvSpPr>
        <p:spPr>
          <a:xfrm>
            <a:off x="502920" y="4343400"/>
            <a:ext cx="5440680" cy="1965960"/>
          </a:xfrm>
          <a:prstGeom prst="roundRect">
            <a:avLst>
              <a:gd name="adj" fmla="val 3000"/>
            </a:avLst>
          </a:prstGeom>
          <a:solidFill>
            <a:srgbClr val="F5F7F9"/>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600"/>
              </a:spcAft>
              <a:defRPr sz="1350" b="1">
                <a:solidFill>
                  <a:srgbClr val="173F4F"/>
                </a:solidFill>
                <a:latin typeface="Arial"/>
              </a:defRPr>
            </a:pPr>
            <a:r>
              <a:t>Why Anticipation Arises Before Announcement Day 0</a:t>
            </a:r>
          </a:p>
          <a:p>
            <a:pPr>
              <a:spcAft>
                <a:spcPts val="400"/>
              </a:spcAft>
              <a:defRPr sz="1100">
                <a:solidFill>
                  <a:srgbClr val="1E293B"/>
                </a:solidFill>
                <a:latin typeface="Arial"/>
              </a:defRPr>
            </a:pPr>
            <a:r>
              <a:t>• S&amp;P/ASX 300 eligibility rules (market cap rank + liquidity) are public.</a:t>
            </a:r>
          </a:p>
          <a:p>
            <a:pPr>
              <a:spcAft>
                <a:spcPts val="400"/>
              </a:spcAft>
              <a:defRPr sz="1100">
                <a:solidFill>
                  <a:srgbClr val="1E293B"/>
                </a:solidFill>
                <a:latin typeface="Arial"/>
              </a:defRPr>
            </a:pPr>
            <a:r>
              <a:t>• S&amp;P locks in eligibility data at the reference cut-off date (~trading day -11, the second-to-last Friday of Feb/Aug).</a:t>
            </a:r>
          </a:p>
          <a:p>
            <a:pPr>
              <a:spcAft>
                <a:spcPts val="400"/>
              </a:spcAft>
              <a:defRPr sz="1100">
                <a:solidFill>
                  <a:srgbClr val="1E293B"/>
                </a:solidFill>
                <a:latin typeface="Arial"/>
              </a:defRPr>
            </a:pPr>
            <a:r>
              <a:t>• Arbitrageurs can therefore predict likely additions before the official Friday announcement after the close on Day 0.</a:t>
            </a:r>
          </a:p>
        </p:txBody>
      </p:sp>
      <p:sp>
        <p:nvSpPr>
          <p:cNvPr id="13" name="Rounded Rectangle 12"/>
          <p:cNvSpPr/>
          <p:nvPr/>
        </p:nvSpPr>
        <p:spPr>
          <a:xfrm>
            <a:off x="6217920" y="4343400"/>
            <a:ext cx="5440680" cy="1965960"/>
          </a:xfrm>
          <a:prstGeom prst="roundRect">
            <a:avLst>
              <a:gd name="adj" fmla="val 3000"/>
            </a:avLst>
          </a:prstGeom>
          <a:solidFill>
            <a:srgbClr val="EBF3F5"/>
          </a:solidFill>
          <a:ln>
            <a:solidFill>
              <a:srgbClr val="2A6B7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600"/>
              </a:spcAft>
              <a:defRPr sz="1350" b="1">
                <a:solidFill>
                  <a:srgbClr val="173F4F"/>
                </a:solidFill>
                <a:latin typeface="Arial"/>
              </a:defRPr>
            </a:pPr>
            <a:r>
              <a:t>Why Baseline B Moved from [-30:-11] to [-40:-21]</a:t>
            </a:r>
          </a:p>
          <a:p>
            <a:pPr>
              <a:spcAft>
                <a:spcPts val="400"/>
              </a:spcAft>
              <a:defRPr sz="1100">
                <a:solidFill>
                  <a:srgbClr val="1E293B"/>
                </a:solidFill>
                <a:latin typeface="Arial"/>
              </a:defRPr>
            </a:pPr>
            <a:r>
              <a:t>• Earlier Spec (B = -30 to -11): Sat immediately adjacent to the day -11 reference cut-off; days -20 to -11 may already contain early positioning.</a:t>
            </a:r>
          </a:p>
          <a:p>
            <a:pPr>
              <a:spcAft>
                <a:spcPts val="400"/>
              </a:spcAft>
              <a:defRPr sz="1100">
                <a:solidFill>
                  <a:srgbClr val="1E293B"/>
                </a:solidFill>
                <a:latin typeface="Arial"/>
              </a:defRPr>
            </a:pPr>
            <a:r>
              <a:t>• Updated Spec (B = -40 to -21): Moves Baseline B prior to the cut-off and explicitly allows anticipation in PA (-20 to 0).</a:t>
            </a:r>
          </a:p>
          <a:p>
            <a:pPr>
              <a:spcAft>
                <a:spcPts val="400"/>
              </a:spcAft>
              <a:defRPr sz="1100">
                <a:solidFill>
                  <a:srgbClr val="1E293B"/>
                </a:solidFill>
                <a:latin typeface="Arial"/>
              </a:defRPr>
            </a:pPr>
            <a:r>
              <a:t>• Justification: Grounded in institutional review timing, not chasing a higher pre-test p-value.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73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777240"/>
          </a:xfrm>
          <a:prstGeom prst="rect">
            <a:avLst/>
          </a:prstGeom>
          <a:noFill/>
        </p:spPr>
        <p:txBody>
          <a:bodyPr wrap="square" lIns="0" tIns="0" rIns="0" bIns="0">
            <a:spAutoFit/>
          </a:bodyPr>
          <a:lstStyle/>
          <a:p>
            <a:pPr>
              <a:defRPr sz="2400" b="1">
                <a:solidFill>
                  <a:srgbClr val="173F4F"/>
                </a:solidFill>
                <a:latin typeface="Arial"/>
              </a:defRPr>
            </a:pPr>
            <a:r>
              <a:t>3. Identification Assumption 2: Conditional Parallel Trends</a:t>
            </a:r>
          </a:p>
          <a:p>
            <a:pPr>
              <a:defRPr sz="1250">
                <a:solidFill>
                  <a:srgbClr val="5A6978"/>
                </a:solidFill>
                <a:latin typeface="Arial"/>
              </a:defRPr>
            </a:pPr>
            <a:r>
              <a:t>Four-bin pre-trend diagnostics over days -60 to -21 (PA excluded) and baseline sensitivity check</a:t>
            </a:r>
          </a:p>
        </p:txBody>
      </p:sp>
      <p:sp>
        <p:nvSpPr>
          <p:cNvPr id="4" name="TextBox 3"/>
          <p:cNvSpPr txBox="1"/>
          <p:nvPr/>
        </p:nvSpPr>
        <p:spPr>
          <a:xfrm>
            <a:off x="502920" y="6510528"/>
            <a:ext cx="11155680" cy="256032"/>
          </a:xfrm>
          <a:prstGeom prst="rect">
            <a:avLst/>
          </a:prstGeom>
          <a:noFill/>
        </p:spPr>
        <p:txBody>
          <a:bodyPr wrap="none">
            <a:spAutoFit/>
          </a:bodyPr>
          <a:lstStyle/>
          <a:p>
            <a:pPr>
              <a:defRPr sz="950">
                <a:solidFill>
                  <a:srgbClr val="5A6978"/>
                </a:solidFill>
                <a:latin typeface="Arial"/>
              </a:defRPr>
            </a:pPr>
            <a:r>
              <a:t>ETF5560 Case Studies in Econometrics | S&amp;P/ASX 300 Inclusion &amp; Liquidity | Slide 3 of 3</a:t>
            </a:r>
          </a:p>
        </p:txBody>
      </p:sp>
      <p:sp>
        <p:nvSpPr>
          <p:cNvPr id="5" name="Rounded Rectangle 4"/>
          <p:cNvSpPr/>
          <p:nvPr/>
        </p:nvSpPr>
        <p:spPr>
          <a:xfrm>
            <a:off x="502920" y="1024128"/>
            <a:ext cx="11155680" cy="749808"/>
          </a:xfrm>
          <a:prstGeom prst="roundRect">
            <a:avLst>
              <a:gd name="adj" fmla="val 5000"/>
            </a:avLst>
          </a:prstGeom>
          <a:solidFill>
            <a:srgbClr val="F5F7F9"/>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200" b="1">
                <a:solidFill>
                  <a:srgbClr val="173F4F"/>
                </a:solidFill>
                <a:latin typeface="Arial"/>
              </a:defRPr>
            </a:pPr>
            <a:r>
              <a:t>Conditional Parallel Trends Assumption:</a:t>
            </a:r>
          </a:p>
          <a:p>
            <a:pPr>
              <a:defRPr sz="1100">
                <a:solidFill>
                  <a:srgbClr val="1E293B"/>
                </a:solidFill>
                <a:latin typeface="Arial"/>
              </a:defRPr>
            </a:pPr>
            <a:r>
              <a:t>Absent ASX 300 inclusion, additions and matched controls would follow similar log Amihud changes from Baseline B, conditional on stock-review fixed effects, matched-group x window fixed effects, log reference market cap, and pre-event return volatility (EP, -60:-41).</a:t>
            </a:r>
          </a:p>
        </p:txBody>
      </p:sp>
      <p:pic>
        <p:nvPicPr>
          <p:cNvPr id="6" name="Picture 5" descr="slide3_pretrend_4bin.png"/>
          <p:cNvPicPr>
            <a:picLocks noChangeAspect="1"/>
          </p:cNvPicPr>
          <p:nvPr/>
        </p:nvPicPr>
        <p:blipFill>
          <a:blip r:embed="rId2"/>
          <a:stretch>
            <a:fillRect/>
          </a:stretch>
        </p:blipFill>
        <p:spPr>
          <a:xfrm>
            <a:off x="502920" y="1874519"/>
            <a:ext cx="5394960" cy="2552972"/>
          </a:xfrm>
          <a:prstGeom prst="rect">
            <a:avLst/>
          </a:prstGeom>
        </p:spPr>
      </p:pic>
      <p:graphicFrame>
        <p:nvGraphicFramePr>
          <p:cNvPr id="7" name="Table 6"/>
          <p:cNvGraphicFramePr>
            <a:graphicFrameLocks noGrp="1"/>
          </p:cNvGraphicFramePr>
          <p:nvPr/>
        </p:nvGraphicFramePr>
        <p:xfrm>
          <a:off x="502920" y="4498848"/>
          <a:ext cx="5394960" cy="1783080"/>
        </p:xfrm>
        <a:graphic>
          <a:graphicData uri="http://schemas.openxmlformats.org/drawingml/2006/table">
            <a:tbl>
              <a:tblPr firstRow="1" bandRow="1">
                <a:tableStyleId>{5C22544A-7EE6-4342-B048-85BDC9FD1C3A}</a:tableStyleId>
              </a:tblPr>
              <a:tblGrid>
                <a:gridCol w="3154680"/>
                <a:gridCol w="1143000"/>
                <a:gridCol w="1097280"/>
              </a:tblGrid>
              <a:tr h="445770">
                <a:tc>
                  <a:txBody>
                    <a:bodyPr/>
                    <a:lstStyle/>
                    <a:p>
                      <a:pPr algn="l">
                        <a:defRPr sz="1050" b="1">
                          <a:solidFill>
                            <a:srgbClr val="FFFFFF"/>
                          </a:solidFill>
                          <a:latin typeface="Arial"/>
                        </a:defRPr>
                      </a:pPr>
                      <a:r>
                        <a:t>Pre-Bin Test (-60:-21, Ref = -40:-31)</a:t>
                      </a:r>
                    </a:p>
                  </a:txBody>
                  <a:tcPr anchor="ctr">
                    <a:solidFill>
                      <a:srgbClr val="173F4F"/>
                    </a:solidFill>
                  </a:tcPr>
                </a:tc>
                <a:tc>
                  <a:txBody>
                    <a:bodyPr/>
                    <a:lstStyle/>
                    <a:p>
                      <a:pPr algn="ctr">
                        <a:defRPr sz="1050" b="1">
                          <a:solidFill>
                            <a:srgbClr val="FFFFFF"/>
                          </a:solidFill>
                          <a:latin typeface="Arial"/>
                        </a:defRPr>
                      </a:pPr>
                      <a:r>
                        <a:t>Restrictions</a:t>
                      </a:r>
                    </a:p>
                  </a:txBody>
                  <a:tcPr anchor="ctr">
                    <a:solidFill>
                      <a:srgbClr val="173F4F"/>
                    </a:solidFill>
                  </a:tcPr>
                </a:tc>
                <a:tc>
                  <a:txBody>
                    <a:bodyPr/>
                    <a:lstStyle/>
                    <a:p>
                      <a:pPr algn="ctr">
                        <a:defRPr sz="1050" b="1">
                          <a:solidFill>
                            <a:srgbClr val="FFFFFF"/>
                          </a:solidFill>
                          <a:latin typeface="Arial"/>
                        </a:defRPr>
                      </a:pPr>
                      <a:r>
                        <a:t>p-value</a:t>
                      </a:r>
                    </a:p>
                  </a:txBody>
                  <a:tcPr anchor="ctr">
                    <a:solidFill>
                      <a:srgbClr val="173F4F"/>
                    </a:solidFill>
                  </a:tcPr>
                </a:tc>
              </a:tr>
              <a:tr h="445770">
                <a:tc>
                  <a:txBody>
                    <a:bodyPr/>
                    <a:lstStyle/>
                    <a:p>
                      <a:pPr algn="l">
                        <a:defRPr sz="1000" b="0">
                          <a:solidFill>
                            <a:srgbClr val="1E293B"/>
                          </a:solidFill>
                          <a:latin typeface="Arial"/>
                        </a:defRPr>
                      </a:pPr>
                      <a:r>
                        <a:t>Pooled common pre-bin changes = 0</a:t>
                      </a:r>
                    </a:p>
                  </a:txBody>
                  <a:tcPr anchor="ctr">
                    <a:solidFill>
                      <a:srgbClr val="EBF3F5"/>
                    </a:solidFill>
                  </a:tcPr>
                </a:tc>
                <a:tc>
                  <a:txBody>
                    <a:bodyPr/>
                    <a:lstStyle/>
                    <a:p>
                      <a:pPr algn="ctr">
                        <a:defRPr sz="1000" b="0">
                          <a:solidFill>
                            <a:srgbClr val="1E293B"/>
                          </a:solidFill>
                          <a:latin typeface="Arial"/>
                        </a:defRPr>
                      </a:pPr>
                      <a:r>
                        <a:t>3</a:t>
                      </a:r>
                    </a:p>
                  </a:txBody>
                  <a:tcPr anchor="ctr">
                    <a:solidFill>
                      <a:srgbClr val="EBF3F5"/>
                    </a:solidFill>
                  </a:tcPr>
                </a:tc>
                <a:tc>
                  <a:txBody>
                    <a:bodyPr/>
                    <a:lstStyle/>
                    <a:p>
                      <a:pPr algn="ctr">
                        <a:defRPr sz="1050" b="1">
                          <a:solidFill>
                            <a:srgbClr val="173F4F"/>
                          </a:solidFill>
                          <a:latin typeface="Arial"/>
                        </a:defRPr>
                      </a:pPr>
                      <a:r>
                        <a:t>0.771</a:t>
                      </a:r>
                    </a:p>
                  </a:txBody>
                  <a:tcPr anchor="ctr">
                    <a:solidFill>
                      <a:srgbClr val="EBF3F5"/>
                    </a:solidFill>
                  </a:tcPr>
                </a:tc>
              </a:tr>
              <a:tr h="445770">
                <a:tc>
                  <a:txBody>
                    <a:bodyPr/>
                    <a:lstStyle/>
                    <a:p>
                      <a:pPr algn="l">
                        <a:defRPr sz="1000" b="1">
                          <a:solidFill>
                            <a:srgbClr val="1E293B"/>
                          </a:solidFill>
                          <a:latin typeface="Arial"/>
                        </a:defRPr>
                      </a:pPr>
                      <a:r>
                        <a:t>Event-weighted pre-bin changes = 0</a:t>
                      </a:r>
                    </a:p>
                  </a:txBody>
                  <a:tcPr anchor="ctr">
                    <a:solidFill>
                      <a:srgbClr val="FFFFFF"/>
                    </a:solidFill>
                  </a:tcPr>
                </a:tc>
                <a:tc>
                  <a:txBody>
                    <a:bodyPr/>
                    <a:lstStyle/>
                    <a:p>
                      <a:pPr algn="ctr">
                        <a:defRPr sz="1000" b="0">
                          <a:solidFill>
                            <a:srgbClr val="1E293B"/>
                          </a:solidFill>
                          <a:latin typeface="Arial"/>
                        </a:defRPr>
                      </a:pPr>
                      <a:r>
                        <a:t>3</a:t>
                      </a:r>
                    </a:p>
                  </a:txBody>
                  <a:tcPr anchor="ctr">
                    <a:solidFill>
                      <a:srgbClr val="FFFFFF"/>
                    </a:solidFill>
                  </a:tcPr>
                </a:tc>
                <a:tc>
                  <a:txBody>
                    <a:bodyPr/>
                    <a:lstStyle/>
                    <a:p>
                      <a:pPr algn="ctr">
                        <a:defRPr sz="1050" b="1">
                          <a:solidFill>
                            <a:srgbClr val="173F4F"/>
                          </a:solidFill>
                          <a:latin typeface="Arial"/>
                        </a:defRPr>
                      </a:pPr>
                      <a:r>
                        <a:t>0.743</a:t>
                      </a:r>
                    </a:p>
                  </a:txBody>
                  <a:tcPr anchor="ctr">
                    <a:solidFill>
                      <a:srgbClr val="FFFFFF"/>
                    </a:solidFill>
                  </a:tcPr>
                </a:tc>
              </a:tr>
              <a:tr h="445770">
                <a:tc>
                  <a:txBody>
                    <a:bodyPr/>
                    <a:lstStyle/>
                    <a:p>
                      <a:pPr algn="l">
                        <a:defRPr sz="1000" b="1">
                          <a:solidFill>
                            <a:srgbClr val="1E293B"/>
                          </a:solidFill>
                          <a:latin typeface="Arial"/>
                        </a:defRPr>
                      </a:pPr>
                      <a:r>
                        <a:t>All review-specific changes = 0 (6 reviews)</a:t>
                      </a:r>
                    </a:p>
                  </a:txBody>
                  <a:tcPr anchor="ctr">
                    <a:solidFill>
                      <a:srgbClr val="EBF3F5"/>
                    </a:solidFill>
                  </a:tcPr>
                </a:tc>
                <a:tc>
                  <a:txBody>
                    <a:bodyPr/>
                    <a:lstStyle/>
                    <a:p>
                      <a:pPr algn="ctr">
                        <a:defRPr sz="1000" b="0">
                          <a:solidFill>
                            <a:srgbClr val="1E293B"/>
                          </a:solidFill>
                          <a:latin typeface="Arial"/>
                        </a:defRPr>
                      </a:pPr>
                      <a:r>
                        <a:t>18</a:t>
                      </a:r>
                    </a:p>
                  </a:txBody>
                  <a:tcPr anchor="ctr">
                    <a:solidFill>
                      <a:srgbClr val="EBF3F5"/>
                    </a:solidFill>
                  </a:tcPr>
                </a:tc>
                <a:tc>
                  <a:txBody>
                    <a:bodyPr/>
                    <a:lstStyle/>
                    <a:p>
                      <a:pPr algn="ctr">
                        <a:defRPr sz="1050" b="1">
                          <a:solidFill>
                            <a:srgbClr val="173F4F"/>
                          </a:solidFill>
                          <a:latin typeface="Arial"/>
                        </a:defRPr>
                      </a:pPr>
                      <a:r>
                        <a:t>0.146</a:t>
                      </a:r>
                    </a:p>
                  </a:txBody>
                  <a:tcPr anchor="ctr">
                    <a:solidFill>
                      <a:srgbClr val="EBF3F5"/>
                    </a:solidFill>
                  </a:tcPr>
                </a:tc>
              </a:tr>
            </a:tbl>
          </a:graphicData>
        </a:graphic>
      </p:graphicFrame>
      <p:sp>
        <p:nvSpPr>
          <p:cNvPr id="8" name="Rounded Rectangle 7"/>
          <p:cNvSpPr/>
          <p:nvPr/>
        </p:nvSpPr>
        <p:spPr>
          <a:xfrm>
            <a:off x="6172200" y="1874519"/>
            <a:ext cx="5486400" cy="2423160"/>
          </a:xfrm>
          <a:prstGeom prst="roundRect">
            <a:avLst>
              <a:gd name="adj" fmla="val 3000"/>
            </a:avLst>
          </a:prstGeom>
          <a:solidFill>
            <a:srgbClr val="F5F7F9"/>
          </a:solidFill>
          <a:ln>
            <a:solidFill>
              <a:srgbClr val="D2DAE2"/>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spcAft>
                <a:spcPts val="600"/>
              </a:spcAft>
              <a:defRPr sz="1300" b="1">
                <a:solidFill>
                  <a:srgbClr val="173F4F"/>
                </a:solidFill>
                <a:latin typeface="Arial"/>
              </a:defRPr>
            </a:pPr>
            <a:r>
              <a:t>Pre-Test Interpretation (Roth, 2022 — Pretest with Caution)</a:t>
            </a:r>
          </a:p>
          <a:p>
            <a:pPr>
              <a:spcAft>
                <a:spcPts val="400"/>
              </a:spcAft>
              <a:defRPr sz="1080">
                <a:solidFill>
                  <a:srgbClr val="1E293B"/>
                </a:solidFill>
                <a:latin typeface="Arial"/>
              </a:defRPr>
            </a:pPr>
            <a:r>
              <a:t>• Four 10-day bins over -60 to -21 (reference = -40:-31); PA (-20:0) is deliberately excluded.</a:t>
            </a:r>
          </a:p>
          <a:p>
            <a:pPr>
              <a:spcAft>
                <a:spcPts val="400"/>
              </a:spcAft>
              <a:defRPr sz="1080">
                <a:solidFill>
                  <a:srgbClr val="1E293B"/>
                </a:solidFill>
                <a:latin typeface="Arial"/>
              </a:defRPr>
            </a:pPr>
            <a:r>
              <a:t>• Pre-trend differences are small and jointly insignificant: event-weighted p = 0.743; all 18 review-specific coefficients p = 0.146.</a:t>
            </a:r>
          </a:p>
          <a:p>
            <a:pPr>
              <a:spcAft>
                <a:spcPts val="400"/>
              </a:spcAft>
              <a:defRPr sz="1080">
                <a:solidFill>
                  <a:srgbClr val="1E293B"/>
                </a:solidFill>
                <a:latin typeface="Arial"/>
              </a:defRPr>
            </a:pPr>
            <a:r>
              <a:t>• Non-rejection supports plausibility rather than proving parallel trends.</a:t>
            </a:r>
          </a:p>
          <a:p>
            <a:pPr>
              <a:spcAft>
                <a:spcPts val="400"/>
              </a:spcAft>
              <a:defRPr sz="1080">
                <a:solidFill>
                  <a:srgbClr val="1E293B"/>
                </a:solidFill>
                <a:latin typeface="Arial"/>
              </a:defRPr>
            </a:pPr>
            <a:r>
              <a:t>• Because the earlier baseline followed diagnostic inspection, we verify that post-inclusion effects hold under both baselines below.</a:t>
            </a:r>
          </a:p>
        </p:txBody>
      </p:sp>
      <p:graphicFrame>
        <p:nvGraphicFramePr>
          <p:cNvPr id="9" name="Table 8"/>
          <p:cNvGraphicFramePr>
            <a:graphicFrameLocks noGrp="1"/>
          </p:cNvGraphicFramePr>
          <p:nvPr/>
        </p:nvGraphicFramePr>
        <p:xfrm>
          <a:off x="6172200" y="4498848"/>
          <a:ext cx="5486400" cy="1783080"/>
        </p:xfrm>
        <a:graphic>
          <a:graphicData uri="http://schemas.openxmlformats.org/drawingml/2006/table">
            <a:tbl>
              <a:tblPr firstRow="1" bandRow="1">
                <a:tableStyleId>{5C22544A-7EE6-4342-B048-85BDC9FD1C3A}</a:tableStyleId>
              </a:tblPr>
              <a:tblGrid>
                <a:gridCol w="2194560"/>
                <a:gridCol w="1097280"/>
                <a:gridCol w="1097280"/>
                <a:gridCol w="1097280"/>
              </a:tblGrid>
              <a:tr h="594360">
                <a:tc>
                  <a:txBody>
                    <a:bodyPr/>
                    <a:lstStyle/>
                    <a:p>
                      <a:pPr algn="l">
                        <a:defRPr sz="1050" b="1">
                          <a:solidFill>
                            <a:srgbClr val="FFFFFF"/>
                          </a:solidFill>
                          <a:latin typeface="Arial"/>
                        </a:defRPr>
                      </a:pPr>
                      <a:r>
                        <a:t>Baseline Specification</a:t>
                      </a:r>
                    </a:p>
                  </a:txBody>
                  <a:tcPr anchor="ctr">
                    <a:solidFill>
                      <a:srgbClr val="173F4F"/>
                    </a:solidFill>
                  </a:tcPr>
                </a:tc>
                <a:tc>
                  <a:txBody>
                    <a:bodyPr/>
                    <a:lstStyle/>
                    <a:p>
                      <a:pPr algn="ctr">
                        <a:defRPr sz="1050" b="1">
                          <a:solidFill>
                            <a:srgbClr val="FFFFFF"/>
                          </a:solidFill>
                          <a:latin typeface="Arial"/>
                        </a:defRPr>
                      </a:pPr>
                      <a:r>
                        <a:t>AP (+1:+10)</a:t>
                      </a:r>
                    </a:p>
                  </a:txBody>
                  <a:tcPr anchor="ctr">
                    <a:solidFill>
                      <a:srgbClr val="173F4F"/>
                    </a:solidFill>
                  </a:tcPr>
                </a:tc>
                <a:tc>
                  <a:txBody>
                    <a:bodyPr/>
                    <a:lstStyle/>
                    <a:p>
                      <a:pPr algn="ctr">
                        <a:defRPr sz="1050" b="1">
                          <a:solidFill>
                            <a:srgbClr val="FFFFFF"/>
                          </a:solidFill>
                          <a:latin typeface="Arial"/>
                        </a:defRPr>
                      </a:pPr>
                      <a:r>
                        <a:t>SP (+11:+30)</a:t>
                      </a:r>
                    </a:p>
                  </a:txBody>
                  <a:tcPr anchor="ctr">
                    <a:solidFill>
                      <a:srgbClr val="173F4F"/>
                    </a:solidFill>
                  </a:tcPr>
                </a:tc>
                <a:tc>
                  <a:txBody>
                    <a:bodyPr/>
                    <a:lstStyle/>
                    <a:p>
                      <a:pPr algn="ctr">
                        <a:defRPr sz="1050" b="1">
                          <a:solidFill>
                            <a:srgbClr val="FFFFFF"/>
                          </a:solidFill>
                          <a:latin typeface="Arial"/>
                        </a:defRPr>
                      </a:pPr>
                      <a:r>
                        <a:t>LP (+31:+60)</a:t>
                      </a:r>
                    </a:p>
                  </a:txBody>
                  <a:tcPr anchor="ctr">
                    <a:solidFill>
                      <a:srgbClr val="173F4F"/>
                    </a:solidFill>
                  </a:tcPr>
                </a:tc>
              </a:tr>
              <a:tr h="594360">
                <a:tc>
                  <a:txBody>
                    <a:bodyPr/>
                    <a:lstStyle/>
                    <a:p>
                      <a:pPr algn="l">
                        <a:defRPr sz="1000" b="1">
                          <a:solidFill>
                            <a:srgbClr val="1E293B"/>
                          </a:solidFill>
                          <a:latin typeface="Arial"/>
                        </a:defRPr>
                      </a:pPr>
                      <a:r>
                        <a:t>Version 2: B = -40 to -21 (Main)</a:t>
                      </a:r>
                    </a:p>
                  </a:txBody>
                  <a:tcPr anchor="ctr">
                    <a:solidFill>
                      <a:srgbClr val="EBF3F5"/>
                    </a:solidFill>
                  </a:tcPr>
                </a:tc>
                <a:tc>
                  <a:txBody>
                    <a:bodyPr/>
                    <a:lstStyle/>
                    <a:p>
                      <a:pPr algn="ctr">
                        <a:defRPr sz="1000" b="1">
                          <a:solidFill>
                            <a:srgbClr val="173F4F"/>
                          </a:solidFill>
                          <a:latin typeface="Arial"/>
                        </a:defRPr>
                      </a:pPr>
                      <a:r>
                        <a:t>-44.1%</a:t>
                      </a:r>
                    </a:p>
                    <a:p>
                      <a:pPr algn="ctr">
                        <a:defRPr sz="1000" b="1">
                          <a:solidFill>
                            <a:srgbClr val="173F4F"/>
                          </a:solidFill>
                          <a:latin typeface="Arial"/>
                        </a:defRPr>
                      </a:pPr>
                      <a:r>
                        <a:t>(p &lt; 0.001)</a:t>
                      </a:r>
                    </a:p>
                  </a:txBody>
                  <a:tcPr anchor="ctr">
                    <a:solidFill>
                      <a:srgbClr val="EBF3F5"/>
                    </a:solidFill>
                  </a:tcPr>
                </a:tc>
                <a:tc>
                  <a:txBody>
                    <a:bodyPr/>
                    <a:lstStyle/>
                    <a:p>
                      <a:pPr algn="ctr">
                        <a:defRPr sz="1000" b="1">
                          <a:solidFill>
                            <a:srgbClr val="173F4F"/>
                          </a:solidFill>
                          <a:latin typeface="Arial"/>
                        </a:defRPr>
                      </a:pPr>
                      <a:r>
                        <a:t>-36.4%</a:t>
                      </a:r>
                    </a:p>
                    <a:p>
                      <a:pPr algn="ctr">
                        <a:defRPr sz="1000" b="1">
                          <a:solidFill>
                            <a:srgbClr val="173F4F"/>
                          </a:solidFill>
                          <a:latin typeface="Arial"/>
                        </a:defRPr>
                      </a:pPr>
                      <a:r>
                        <a:t>(p &lt; 0.001)</a:t>
                      </a:r>
                    </a:p>
                  </a:txBody>
                  <a:tcPr anchor="ctr">
                    <a:solidFill>
                      <a:srgbClr val="EBF3F5"/>
                    </a:solidFill>
                  </a:tcPr>
                </a:tc>
                <a:tc>
                  <a:txBody>
                    <a:bodyPr/>
                    <a:lstStyle/>
                    <a:p>
                      <a:pPr algn="ctr">
                        <a:defRPr sz="1000" b="1">
                          <a:solidFill>
                            <a:srgbClr val="173F4F"/>
                          </a:solidFill>
                          <a:latin typeface="Arial"/>
                        </a:defRPr>
                      </a:pPr>
                      <a:r>
                        <a:t>-26.6%</a:t>
                      </a:r>
                    </a:p>
                    <a:p>
                      <a:pPr algn="ctr">
                        <a:defRPr sz="1000" b="1">
                          <a:solidFill>
                            <a:srgbClr val="173F4F"/>
                          </a:solidFill>
                          <a:latin typeface="Arial"/>
                        </a:defRPr>
                      </a:pPr>
                      <a:r>
                        <a:t>(p &lt; 0.001)</a:t>
                      </a:r>
                    </a:p>
                  </a:txBody>
                  <a:tcPr anchor="ctr">
                    <a:solidFill>
                      <a:srgbClr val="EBF3F5"/>
                    </a:solidFill>
                  </a:tcPr>
                </a:tc>
              </a:tr>
              <a:tr h="594360">
                <a:tc>
                  <a:txBody>
                    <a:bodyPr/>
                    <a:lstStyle/>
                    <a:p>
                      <a:pPr algn="l">
                        <a:defRPr sz="1000" b="1">
                          <a:solidFill>
                            <a:srgbClr val="1E293B"/>
                          </a:solidFill>
                          <a:latin typeface="Arial"/>
                        </a:defRPr>
                      </a:pPr>
                      <a:r>
                        <a:t>Version 1: B = -30 to -11 (Orig.)</a:t>
                      </a:r>
                    </a:p>
                  </a:txBody>
                  <a:tcPr anchor="ctr">
                    <a:solidFill>
                      <a:srgbClr val="FFFFFF"/>
                    </a:solidFill>
                  </a:tcPr>
                </a:tc>
                <a:tc>
                  <a:txBody>
                    <a:bodyPr/>
                    <a:lstStyle/>
                    <a:p>
                      <a:pPr algn="ctr">
                        <a:defRPr sz="1000" b="1">
                          <a:solidFill>
                            <a:srgbClr val="173F4F"/>
                          </a:solidFill>
                          <a:latin typeface="Arial"/>
                        </a:defRPr>
                      </a:pPr>
                      <a:r>
                        <a:t>-42.0%</a:t>
                      </a:r>
                    </a:p>
                    <a:p>
                      <a:pPr algn="ctr">
                        <a:defRPr sz="1000" b="1">
                          <a:solidFill>
                            <a:srgbClr val="173F4F"/>
                          </a:solidFill>
                          <a:latin typeface="Arial"/>
                        </a:defRPr>
                      </a:pPr>
                      <a:r>
                        <a:t>(p &lt; 0.001)</a:t>
                      </a:r>
                    </a:p>
                  </a:txBody>
                  <a:tcPr anchor="ctr">
                    <a:solidFill>
                      <a:srgbClr val="FFFFFF"/>
                    </a:solidFill>
                  </a:tcPr>
                </a:tc>
                <a:tc>
                  <a:txBody>
                    <a:bodyPr/>
                    <a:lstStyle/>
                    <a:p>
                      <a:pPr algn="ctr">
                        <a:defRPr sz="1000" b="1">
                          <a:solidFill>
                            <a:srgbClr val="173F4F"/>
                          </a:solidFill>
                          <a:latin typeface="Arial"/>
                        </a:defRPr>
                      </a:pPr>
                      <a:r>
                        <a:t>-33.6%</a:t>
                      </a:r>
                    </a:p>
                    <a:p>
                      <a:pPr algn="ctr">
                        <a:defRPr sz="1000" b="1">
                          <a:solidFill>
                            <a:srgbClr val="173F4F"/>
                          </a:solidFill>
                          <a:latin typeface="Arial"/>
                        </a:defRPr>
                      </a:pPr>
                      <a:r>
                        <a:t>(p &lt; 0.001)</a:t>
                      </a:r>
                    </a:p>
                  </a:txBody>
                  <a:tcPr anchor="ctr">
                    <a:solidFill>
                      <a:srgbClr val="FFFFFF"/>
                    </a:solidFill>
                  </a:tcPr>
                </a:tc>
                <a:tc>
                  <a:txBody>
                    <a:bodyPr/>
                    <a:lstStyle/>
                    <a:p>
                      <a:pPr algn="ctr">
                        <a:defRPr sz="1000" b="1">
                          <a:solidFill>
                            <a:srgbClr val="173F4F"/>
                          </a:solidFill>
                          <a:latin typeface="Arial"/>
                        </a:defRPr>
                      </a:pPr>
                      <a:r>
                        <a:t>-24.3%</a:t>
                      </a:r>
                    </a:p>
                    <a:p>
                      <a:pPr algn="ctr">
                        <a:defRPr sz="1000" b="1">
                          <a:solidFill>
                            <a:srgbClr val="173F4F"/>
                          </a:solidFill>
                          <a:latin typeface="Arial"/>
                        </a:defRPr>
                      </a:pPr>
                      <a:r>
                        <a:t>(p &lt; 0.001)</a:t>
                      </a:r>
                    </a:p>
                  </a:txBody>
                  <a:tcPr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